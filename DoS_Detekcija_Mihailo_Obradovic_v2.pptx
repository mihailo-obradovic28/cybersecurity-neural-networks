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r>
              <a:rPr lang="sr-Latn-RS" sz="1200" b="0" i="0" u="none" strike="noStrike">
                <a:solidFill>
                  <a:srgbClr val="F1F5F9"/>
                </a:solidFill>
                <a:latin typeface="Arial"/>
              </a:rPr>
              <a:t>Accuracy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 cap="flat">
              <a:solidFill>
                <a:srgbClr val="38BDF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0.97199999999999998</c:v>
                </c:pt>
                <c:pt idx="1">
                  <c:v>0.98399999999999999</c:v>
                </c:pt>
                <c:pt idx="2">
                  <c:v>0.98650000000000004</c:v>
                </c:pt>
                <c:pt idx="3">
                  <c:v>0.98750000000000004</c:v>
                </c:pt>
                <c:pt idx="4">
                  <c:v>0.98780000000000001</c:v>
                </c:pt>
                <c:pt idx="5">
                  <c:v>0.98819999999999997</c:v>
                </c:pt>
                <c:pt idx="6">
                  <c:v>0.98860000000000003</c:v>
                </c:pt>
                <c:pt idx="7">
                  <c:v>0.98880000000000001</c:v>
                </c:pt>
                <c:pt idx="8">
                  <c:v>0.98899999999999999</c:v>
                </c:pt>
                <c:pt idx="9">
                  <c:v>0.98899999999999999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2E3-4398-90BD-87B12C18ED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ln w="3175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0.98499999999999999</c:v>
                </c:pt>
                <c:pt idx="1">
                  <c:v>0.95799999999999996</c:v>
                </c:pt>
                <c:pt idx="2">
                  <c:v>0.99480000000000002</c:v>
                </c:pt>
                <c:pt idx="3">
                  <c:v>0.99099999999999999</c:v>
                </c:pt>
                <c:pt idx="4">
                  <c:v>0.98080000000000001</c:v>
                </c:pt>
                <c:pt idx="5">
                  <c:v>0.995</c:v>
                </c:pt>
                <c:pt idx="6">
                  <c:v>0.98080000000000001</c:v>
                </c:pt>
                <c:pt idx="7">
                  <c:v>0.995</c:v>
                </c:pt>
                <c:pt idx="8">
                  <c:v>0.98799999999999999</c:v>
                </c:pt>
                <c:pt idx="9">
                  <c:v>0.99629999999999996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2E3-4398-90BD-87B12C18E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>
                <a:solidFill>
                  <a:schemeClr val="bg1"/>
                </a:solidFill>
              </a:defRPr>
            </a:pPr>
            <a:r>
              <a:rPr lang="sr-Latn-RS">
                <a:solidFill>
                  <a:schemeClr val="bg1"/>
                </a:solidFill>
              </a:rPr>
              <a:t>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38BDF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6.9000000000000006E-2</c:v>
                </c:pt>
                <c:pt idx="1">
                  <c:v>3.7999999999999999E-2</c:v>
                </c:pt>
                <c:pt idx="2">
                  <c:v>3.4000000000000002E-2</c:v>
                </c:pt>
                <c:pt idx="3">
                  <c:v>0.03</c:v>
                </c:pt>
                <c:pt idx="4">
                  <c:v>2.9000000000000001E-2</c:v>
                </c:pt>
                <c:pt idx="5">
                  <c:v>2.8000000000000001E-2</c:v>
                </c:pt>
                <c:pt idx="6">
                  <c:v>2.7E-2</c:v>
                </c:pt>
                <c:pt idx="7">
                  <c:v>2.5999999999999999E-2</c:v>
                </c:pt>
                <c:pt idx="8">
                  <c:v>2.5999999999999999E-2</c:v>
                </c:pt>
                <c:pt idx="9">
                  <c:v>2.5999999999999999E-2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076-4E8F-BFD8-F191D59FCC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4.2999999999999997E-2</c:v>
                </c:pt>
                <c:pt idx="1">
                  <c:v>5.5E-2</c:v>
                </c:pt>
                <c:pt idx="2">
                  <c:v>2.7E-2</c:v>
                </c:pt>
                <c:pt idx="3">
                  <c:v>3.5999999999999997E-2</c:v>
                </c:pt>
                <c:pt idx="4">
                  <c:v>0.04</c:v>
                </c:pt>
                <c:pt idx="5">
                  <c:v>0.03</c:v>
                </c:pt>
                <c:pt idx="6">
                  <c:v>0.04</c:v>
                </c:pt>
                <c:pt idx="7">
                  <c:v>1.9E-2</c:v>
                </c:pt>
                <c:pt idx="8">
                  <c:v>2.9000000000000001E-2</c:v>
                </c:pt>
                <c:pt idx="9">
                  <c:v>0.02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076-4E8F-BFD8-F191D59FC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293B"/>
    </a:solidFill>
    <a:ln>
      <a:noFill/>
    </a:ln>
    <a:effectLst/>
  </c:spPr>
  <c:txPr>
    <a:bodyPr/>
    <a:lstStyle/>
    <a:p>
      <a:pPr>
        <a:defRPr b="0" cap="none" spc="0">
          <a:ln w="0"/>
          <a:solidFill>
            <a:schemeClr val="tx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</a:defRPr>
      </a:pPr>
      <a:endParaRPr lang="sr-Latn-R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269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Uvodni slajd. Predstaviti se i ukratko reći o čemu je projekat.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Kratko proći kroz strukturu, najaviti 8 tematskih celina.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Objasniti šta je DoS napad i zašto je machine learning bolji pristup od statičkih pravila.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Napomenuti da je Heartbleed klasa praktično beznačajna sa 11 primera i da smo radili binarnu klasifikaciju Benign vs. Napad.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Objasniti zašto je SMOTE važan – bez balansiranja model bi uvek predviđao Benign jer ih ima više.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Ključna poruka: testirali smo oba skalera i doneli odluku na osnovu rezultata, ne samo teorije. Outlieri u mrežnom saobraćaju (npr. iznenada veliki broj paketa) su upravo signal napada pa ih ne treba potiskivati.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Objasniti svaki sloj – šta radi Dense, zašto ReLU, zašto sigmoid na izlazu za binarnu klasifikaciju.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Objasniti da obe krive konvergiraju – nema overfittinga. Val osciluje malo zbog batch shufflinga što je normalno.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Naglasiti razliku između Accuracy i F1. Objasniti šta znači 143 propuštenih napada u kontekstu sistema zaštite.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Biti spreman na pitanje: 'Šta bi uradio da poboljšaš model?' – threshold optimizacija i više podataka su dobri odgovori.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Sumirati ključne nalaze. Naglasiti praktičnu primenljivost modela u realnim IDS sistemima.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Biti spreman na pitanja o arhitekturi, SMOTE-u, metrikama i mogućim poboljšanjima.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199" y="411480"/>
            <a:ext cx="3275045" cy="365760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Duboko učenje i neuronske mreže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Primena neuronskih mreža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detekciju DoS napada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200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Mihailo Obradović  ·  2022/0106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Sadržaj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prezentacije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490472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0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Opis problema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733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Šta su DoS napadi i zašto ih je bitno detektovati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057400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574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0208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240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CICIDS2017 – struktura i sadržaj podataka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624328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243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5877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Preprocesiranje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2807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Normalizacija, train/test split, SMOTE balansiranje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191256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1912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1546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Analiza skaliranja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3741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StandardScaler vs RobustScaler – poređenje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417320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1490472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149047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14538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Arhitektura modela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16733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Dense neuronska mreža sa Dropout slojevima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984248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2057400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20574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0208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Trening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22402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Loss i accuracy krive tokom učenja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551176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18888" y="2624328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62432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25877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Evaluacija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2807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Confusion matrix, F1, Precision, Recall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3118104"/>
            <a:ext cx="40233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18888" y="3191256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19125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57800" y="315468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</a:rPr>
              <a:t>Zaključak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57800" y="33741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</a:rPr>
              <a:t>Rezultati i moguća poboljšanja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01  Opis problema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su DoS napadi?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Napadač preplavljuje server zahtevima kako bi ga onesposobio za legitimne korisnike.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5087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93008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Tipovi napada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26060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DoS Hulk, GoldenEye, Slowloris, Slowhttptest – različite tehnike, isti cilj: nedostupnost servisa.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1656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91656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ML detekcija?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60604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Klasična pravila nisu dovoljna – ML uči obrasce iz mrežnog saobraćaja i detektuje anomalije u realnom vremenu.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3A8D911-D61B-8FD8-C814-89A623F409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841" y="1686307"/>
            <a:ext cx="355445" cy="4678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3CF286-603D-106E-6110-F0D32FF29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244" l="10000" r="90000">
                        <a14:foregroundMark x1="51190" y1="90244" x2="51190" y2="90244"/>
                        <a14:foregroundMark x1="85714" y1="24146" x2="85714" y2="241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59105" y="1667093"/>
            <a:ext cx="489724" cy="478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02  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 · DoS Wednesday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584,991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Ukupno redova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Feature-a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Null vrednosti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14173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11696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Format fajla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Distribucija klasa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0632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Benign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3090672"/>
            <a:ext cx="3200400" cy="173736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3090672"/>
            <a:ext cx="2144268" cy="173736"/>
          </a:xfrm>
          <a:prstGeom prst="roundRect">
            <a:avLst>
              <a:gd name="adj" fmla="val 2105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0632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391,235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3375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DoS Hulk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3364992"/>
            <a:ext cx="3200400" cy="173736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3364992"/>
            <a:ext cx="960120" cy="173736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3375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172,846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DoS GoldenEye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03120" y="3639312"/>
            <a:ext cx="3200400" cy="173736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3639312"/>
            <a:ext cx="73152" cy="173736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6118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10,286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8862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DoS Slowloris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03120" y="3913632"/>
            <a:ext cx="3200400" cy="173736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3120" y="3913632"/>
            <a:ext cx="73152" cy="173736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886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5,385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160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DoS Slowhttptest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103120" y="4187952"/>
            <a:ext cx="3200400" cy="173736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03120" y="4187952"/>
            <a:ext cx="73152" cy="17373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4160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5,228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1F5F9"/>
                </a:solidFill>
              </a:rPr>
              <a:t>Heartbleed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103120" y="4462272"/>
            <a:ext cx="3200400" cy="173736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03120" y="4462272"/>
            <a:ext cx="73152" cy="17373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44348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03  Preprocesiranje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pripreme podataka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8992" y="160020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Binarna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konverzija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Label kolona: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Benign → 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Svi napadi →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130552"/>
            <a:ext cx="13716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4630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60020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Train / 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Split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80% trening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20% testiranje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random_state=42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130552"/>
            <a:ext cx="13716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4630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85232" y="160020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Standard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Scaler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8346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Normalizacija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feature-a na μ=0,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σ=1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130552"/>
            <a:ext cx="13716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146304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88352" y="1600200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1600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SMOTE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8346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391K Benign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154K Napada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 313K : 313K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04  Analiza skaliranja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vs RobustScaler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</a:rPr>
              <a:t>Nalaz analize distribucije:  </a:t>
            </a:r>
            <a:r>
              <a:rPr lang="en-US" sz="1050" dirty="0">
                <a:solidFill>
                  <a:srgbClr val="94A3B8"/>
                </a:solidFill>
              </a:rPr>
              <a:t>58 od 77 feature-a ima visok skewness (&gt;1), što sugeriše da RobustScaler može biti bolji izbor.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2560320" cy="384048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Metrika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121408"/>
            <a:ext cx="2286000" cy="384048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StandardScaler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121408"/>
            <a:ext cx="2286000" cy="384048"/>
          </a:xfrm>
          <a:prstGeom prst="roundRect">
            <a:avLst>
              <a:gd name="adj" fmla="val 952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121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RobustScaler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25603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0545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F1 (Napad)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2505456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505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0.98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2505456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505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0.93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256032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95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Recall (Napad)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2889504"/>
            <a:ext cx="22860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1.00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2889504"/>
            <a:ext cx="22860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0.87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73552"/>
            <a:ext cx="25603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735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Precision (Napad)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3273552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3273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0.97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3273552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273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0.99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256032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Accuracy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3657600"/>
            <a:ext cx="22860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3657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0.99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40680" y="3657600"/>
            <a:ext cx="228600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3657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0.96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041648"/>
            <a:ext cx="25603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FN (propušteni napadi)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08960" y="4041648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4041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143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40680" y="4041648"/>
            <a:ext cx="22860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4041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4,884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70916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0C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</a:rPr>
              <a:t>-</a:t>
            </a:r>
            <a:r>
              <a:rPr lang="sr-Latn-RS" sz="950" dirty="0">
                <a:solidFill>
                  <a:srgbClr val="38BDF8"/>
                </a:solidFill>
              </a:rPr>
              <a:t>-</a:t>
            </a:r>
            <a:r>
              <a:rPr lang="en-US" sz="950" dirty="0">
                <a:solidFill>
                  <a:srgbClr val="38BDF8"/>
                </a:solidFill>
              </a:rPr>
              <a:t>&gt;  Odabran StandardScaler – uprkos visokom skewnessu, outlieri u mrežnom saobraćaju nose korisnu informaciju za detekciju napada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05  Arhitektura modela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neuronska mreža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709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Ulaz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77 feature-a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2084832"/>
            <a:ext cx="228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60020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1709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Dense 128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ReLU + Dropout 0.3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0" y="2084832"/>
            <a:ext cx="228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60020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69080" y="17099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Dense 64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ReLU + Dropout 0.3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2084832"/>
            <a:ext cx="228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160020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17099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Dense 32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ReLU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95160" y="2084832"/>
            <a:ext cx="228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160020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17099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Izlaz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1031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BEAFE"/>
                </a:solidFill>
              </a:rPr>
              <a:t>Sigmoid → 0 / 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Optimizer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2735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</a:rPr>
              <a:t>Adam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42032" y="2926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33472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Loss funkcija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33472" y="32735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</a:rPr>
              <a:t>Binary Crossentropy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26864" y="2926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18304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Metrika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32735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</a:rPr>
              <a:t>Accuracy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11696" y="29260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03136" y="2999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Ukupno parametara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03136" y="32735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</a:rPr>
              <a:t>20,353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4164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8BDF8"/>
                </a:solidFill>
              </a:rPr>
              <a:t>Zašto Dropout?  </a:t>
            </a:r>
            <a:r>
              <a:rPr lang="en-US" sz="1050" dirty="0">
                <a:solidFill>
                  <a:srgbClr val="94A3B8"/>
                </a:solidFill>
              </a:rPr>
              <a:t>Dropout slojevi nasumično isključuju 30% neurona tokom treninga, čime sprečavaju overfitting – situaciju u kojoj model odlično uči na trening skupu ali loše generalizuje.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06  Trening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Krive učenja – 10 epoha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265572640"/>
              </p:ext>
            </p:extLst>
          </p:nvPr>
        </p:nvGraphicFramePr>
        <p:xfrm>
          <a:off x="365760" y="141732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3281169356"/>
              </p:ext>
            </p:extLst>
          </p:nvPr>
        </p:nvGraphicFramePr>
        <p:xfrm>
          <a:off x="4663440" y="1417320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07  Evaluacija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na test skupu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Predviđeno: Benign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06040" y="1783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Predviđeno: Napad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Stvarno: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Benign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685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Stvarno: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94A3B8"/>
                </a:solidFill>
              </a:rPr>
              <a:t>Napad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88720" y="21031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76,996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Tačno Benign (TN)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210312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2D1F00"/>
          </a:solidFill>
          <a:ln w="12700">
            <a:solidFill>
              <a:srgbClr val="2D1F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B308"/>
                </a:solidFill>
              </a:rPr>
              <a:t>1,210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26700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B308"/>
                </a:solidFill>
              </a:rPr>
              <a:t>Lažni alarm (FP)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88720" y="3200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2D1F00"/>
          </a:solidFill>
          <a:ln w="12700">
            <a:solidFill>
              <a:srgbClr val="2D1F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291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B308"/>
                </a:solidFill>
              </a:rPr>
              <a:t>143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767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B308"/>
                </a:solidFill>
              </a:rPr>
              <a:t>Propušteni napad (FN)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320040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3291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38,650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06040" y="37673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</a:rPr>
              <a:t>Tačno Napad (TP)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</a:rPr>
              <a:t>Ključne metrike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18288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19019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</a:rPr>
              <a:t>99%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572000" y="26334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Precision (Napad)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270662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</a:rPr>
              <a:t>97%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572000" y="343814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5478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Recall (Napad)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35112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100%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4572000" y="424281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435254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</a:rPr>
              <a:t>F1-score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43159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98%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Diskusija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nam rezultati govore?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</a:rPr>
              <a:t>Odlične performanse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47672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F1-score od 0.98 pokazuje da model pouzdano razlikuje normalan saobraćaj od DoS napada, sa minimalnim brojem grešaka na test skupu.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07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7706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</a:rPr>
              <a:t>143 propuštena napada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11810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False Negative slučajevi su kritični u cyber bezbednosti – propušten napad može izazvati ozbiljne posledice. Ovo je kompromis koji treba razmatrati.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0782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9410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8BDF8"/>
                </a:solidFill>
              </a:rPr>
              <a:t>Moguća poboljšanja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288536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</a:rPr>
              <a:t>Optimizacija praga odluke (threshold), veći broj epoha, testiranje na više dataset-a iz CICIDS2017 paketa ili dodavanje AUC-ROC metrike.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6184133-91BC-9CCA-5472-212BC54575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3108" y="1618488"/>
            <a:ext cx="559308" cy="6929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5169A2C-8685-F24E-0FB3-3099507FDA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0611" y="2872361"/>
            <a:ext cx="504699" cy="5905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3D1588F-7369-2FFF-D640-A4D55AABD5A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736" b="94900" l="6463" r="91497">
                        <a14:foregroundMark x1="23639" y1="12750" x2="39626" y2="5100"/>
                        <a14:foregroundMark x1="25510" y1="90710" x2="32483" y2="94900"/>
                        <a14:foregroundMark x1="6973" y1="36976" x2="6463" y2="60109"/>
                        <a14:foregroundMark x1="92347" y1="57559" x2="91327" y2="42259"/>
                        <a14:foregroundMark x1="91327" y1="42259" x2="91497" y2="41530"/>
                        <a14:foregroundMark x1="56633" y1="44809" x2="47109" y2="54645"/>
                        <a14:foregroundMark x1="47109" y1="54645" x2="45748" y2="54827"/>
                      </a14:backgroundRemoval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519" y="3993926"/>
            <a:ext cx="717201" cy="669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Zaključak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Naučene lekcije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00200"/>
            <a:ext cx="438912" cy="43891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4712" y="1600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</a:rPr>
              <a:t>SMOTE je ključan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Bez balansiranja klasa model bi ignorisao manjinsku klasu. SMOTE je izjednačio 391K i 154K primera na 313K po klasi.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600200"/>
            <a:ext cx="438912" cy="43891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68112" y="16002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</a:rPr>
              <a:t>Accuracy nije dovoljna metrika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Na nebalansiranim skupovima accuracy vara. F1-score i Precision/Recall daju pravu sliku performansi modela.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291840"/>
            <a:ext cx="438912" cy="43891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4712" y="32918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</a:rPr>
              <a:t>Scaler zavisi od podataka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Teorija sugeriše RobustScaler za podatke sa visokim skewnessem, ali empirijski rezultati su pokazali da StandardScaler bolje funkcioniše na ovom datasetu.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3154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291840"/>
            <a:ext cx="438912" cy="43891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68112" y="32918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</a:rPr>
              <a:t>Kontekst greške je važan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74904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143 False Negative-a u cyber bezbednosti nije isto što i 143 greške u preporuci filma. Domen određuje prihvatljiv nivo greške.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pažnji!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Student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</a:rPr>
              <a:t>Mihailo Obradović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Indeks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33472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</a:rPr>
              <a:t>2022/0106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Predmet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18304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</a:rPr>
              <a:t>Duboko učenje i neuronske mreže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11696" y="338328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1E40A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Dataset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03136" y="38221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</a:rPr>
              <a:t>CICIDS2017 · DoS Wednesday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913</Words>
  <Application>Microsoft Office PowerPoint</Application>
  <PresentationFormat>On-screen Show (16:9)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Primena neuronskih mreža za detekciju DoS napada</dc:title>
  <dc:subject>PptxGenJS Presentation</dc:subject>
  <dc:creator>Mihailo Obradović</dc:creator>
  <cp:lastModifiedBy>Mihailo Obradović | 2022/0106</cp:lastModifiedBy>
  <cp:revision>7</cp:revision>
  <dcterms:created xsi:type="dcterms:W3CDTF">2026-06-22T22:02:22Z</dcterms:created>
  <dcterms:modified xsi:type="dcterms:W3CDTF">2026-06-24T13:56:38Z</dcterms:modified>
</cp:coreProperties>
</file>